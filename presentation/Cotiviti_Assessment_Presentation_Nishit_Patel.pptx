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1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Clinical Decision Making &amp; Pattern Recognition</a:t>
            </a:r>
            <a:br/>
            <a:r>
              <a:t>in Health 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86FC"/>
                </a:solidFill>
              </a:defRPr>
            </a:pPr>
            <a:r>
              <a:t>Agentic Generative AI for Payment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Nishit Pankajkumar Patel</a:t>
            </a:r>
            <a:br/>
            <a:r>
              <a:t>Arizona State University</a:t>
            </a:r>
            <a:br/>
            <a:r>
              <a:t>Cotiviti GenAI Intern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A154B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2C2C"/>
                </a:solidFill>
              </a:defRPr>
            </a:pPr>
            <a:r>
              <a:t>1. Problem Context — Healthcare Payment Integrity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2C2C"/>
                </a:solidFill>
              </a:defRPr>
            </a:pPr>
            <a:r>
              <a:t>2. Key Trends — Hybrid AI, Explainability, Agentic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2C2C"/>
                </a:solidFill>
              </a:defRPr>
            </a:pPr>
            <a:r>
              <a:t>3. Solution Architecture — Three-Layer Decision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2C2C"/>
                </a:solidFill>
              </a:defRPr>
            </a:pPr>
            <a:r>
              <a:t>4. Proof of Concept Demo — Live System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663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2C2C"/>
                </a:solidFill>
              </a:defRPr>
            </a:pPr>
            <a:r>
              <a:t>5. Opportunities &amp; Threats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486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2C2C"/>
                </a:solidFill>
              </a:defRPr>
            </a:pPr>
            <a:r>
              <a:t>6. Strategic Recommendations for Cotiviti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A154B"/>
                </a:solidFill>
              </a:defRPr>
            </a:pPr>
            <a:r>
              <a:t>The Problem: Healthcare Payment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2C2C"/>
                </a:solidFill>
              </a:defRPr>
            </a:pPr>
            <a:r>
              <a:t>• US healthcare spending: $4.5 trillion annually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2C2C"/>
                </a:solidFill>
              </a:defRPr>
            </a:pPr>
            <a:r>
              <a:t>• 3-10% lost to fraud, waste, and abuse (FWA)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747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2C2C"/>
                </a:solidFill>
              </a:defRPr>
            </a:pPr>
            <a:r>
              <a:t>• Manual review covers only ~5% of claims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3891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2C2C"/>
                </a:solidFill>
              </a:defRPr>
            </a:pPr>
            <a:r>
              <a:t>• Rule-based systems miss novel fraud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3035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2C2C"/>
                </a:solidFill>
              </a:defRPr>
            </a:pPr>
            <a:r>
              <a:t>• Pay-and-chase recovery is 3x more expensive than prevention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828800"/>
            <a:ext cx="3200400" cy="3657600"/>
          </a:xfrm>
          <a:prstGeom prst="roundRect">
            <a:avLst/>
          </a:prstGeom>
          <a:solidFill>
            <a:srgbClr val="F3E5F5"/>
          </a:solidFill>
          <a:ln>
            <a:solidFill>
              <a:srgbClr val="7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A154B"/>
                </a:solidFill>
              </a:defRPr>
            </a:pPr>
            <a:r>
              <a:t>Opportunity</a:t>
            </a:r>
          </a:p>
          <a:p>
            <a:br/>
            <a:pPr algn="ctr">
              <a:defRPr sz="1400">
                <a:solidFill>
                  <a:srgbClr val="2C2C2C"/>
                </a:solidFill>
              </a:defRPr>
            </a:pPr>
            <a:r>
              <a:t>AI can review 100% of claims in real-time with explainable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A154B"/>
                </a:solidFill>
              </a:defRPr>
            </a:pPr>
            <a:r>
              <a:t>Solution: Four-Layer Agentic AI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743200" cy="411480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400" b="1">
                <a:solidFill>
                  <a:srgbClr val="28A745"/>
                </a:solidFill>
              </a:defRPr>
            </a:pPr>
            <a:r>
              <a:t>Layer 1:</a:t>
            </a:r>
            <a:br/>
            <a:r>
              <a:t>Rules Engine</a:t>
            </a:r>
          </a:p>
          <a:p/>
          <a:p>
            <a:pPr>
              <a:defRPr sz="1200">
                <a:solidFill>
                  <a:srgbClr val="2C2C2C"/>
                </a:solidFill>
              </a:defRPr>
            </a:pPr>
            <a:r>
              <a:t>Deterministic rules</a:t>
            </a:r>
            <a:br/>
            <a:r>
              <a:t>• CPT-ICD checks</a:t>
            </a:r>
            <a:br/>
            <a:r>
              <a:t>• Cost thresholds</a:t>
            </a:r>
            <a:br/>
            <a:r>
              <a:t>• Known patterns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645920"/>
            <a:ext cx="2743200" cy="411480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400" b="1">
                <a:solidFill>
                  <a:srgbClr val="007BFF"/>
                </a:solidFill>
              </a:defRPr>
            </a:pPr>
            <a:r>
              <a:t>Layer 2:</a:t>
            </a:r>
            <a:br/>
            <a:r>
              <a:t>RAG Retrieval</a:t>
            </a:r>
          </a:p>
          <a:p/>
          <a:p>
            <a:pPr>
              <a:defRPr sz="1200">
                <a:solidFill>
                  <a:srgbClr val="2C2C2C"/>
                </a:solidFill>
              </a:defRPr>
            </a:pPr>
            <a:r>
              <a:t>Vector Embeddings</a:t>
            </a:r>
            <a:br/>
            <a:r>
              <a:t>• Titan Embeddings</a:t>
            </a:r>
            <a:br/>
            <a:r>
              <a:t>• Cosine similarity</a:t>
            </a:r>
            <a:br/>
            <a:r>
              <a:t>• Clinical guidelines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645920"/>
            <a:ext cx="2743200" cy="411480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400" b="1">
                <a:solidFill>
                  <a:srgbClr val="FFC107"/>
                </a:solidFill>
              </a:defRPr>
            </a:pPr>
            <a:r>
              <a:t>Layer 3:</a:t>
            </a:r>
            <a:br/>
            <a:r>
              <a:t>Anomaly Detection</a:t>
            </a:r>
          </a:p>
          <a:p/>
          <a:p>
            <a:pPr>
              <a:defRPr sz="1200">
                <a:solidFill>
                  <a:srgbClr val="2C2C2C"/>
                </a:solidFill>
              </a:defRPr>
            </a:pPr>
            <a:r>
              <a:t>Isolation Forest</a:t>
            </a:r>
            <a:br/>
            <a:r>
              <a:t>• Statistical outliers</a:t>
            </a:r>
            <a:br/>
            <a:r>
              <a:t>• Feature analysis</a:t>
            </a:r>
            <a:br/>
            <a:r>
              <a:t>• Novel patterns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1645920"/>
            <a:ext cx="2743200" cy="411480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400" b="1">
                <a:solidFill>
                  <a:srgbClr val="DC3545"/>
                </a:solidFill>
              </a:defRPr>
            </a:pPr>
            <a:r>
              <a:t>Layer 4:</a:t>
            </a:r>
            <a:br/>
            <a:r>
              <a:t>Agentic GenAI</a:t>
            </a:r>
          </a:p>
          <a:p/>
          <a:p>
            <a:pPr>
              <a:defRPr sz="1200">
                <a:solidFill>
                  <a:srgbClr val="2C2C2C"/>
                </a:solidFill>
              </a:defRPr>
            </a:pPr>
            <a:r>
              <a:t>Chain-of-Thought</a:t>
            </a:r>
            <a:br/>
            <a:r>
              <a:t>• RAG-augmented</a:t>
            </a:r>
            <a:br/>
            <a:r>
              <a:t>• Autonomous reasoning</a:t>
            </a:r>
            <a:br/>
            <a:r>
              <a:t>• Audit narratives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350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B2D8B"/>
                </a:solidFill>
              </a:defRPr>
            </a:pPr>
            <a:r>
              <a:t>Rules = Speed  |  RAG = Grounded Knowledge  |  ML = Novel Patterns  |  GenAI = Autonomous Reasoning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A154B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2C2C"/>
                </a:solidFill>
              </a:defRPr>
            </a:pPr>
            <a:r>
              <a:t>• Python — Core application logic and ML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2C2C"/>
                </a:solidFill>
              </a:defRPr>
            </a:pPr>
            <a:r>
              <a:t>• AWS Bedrock (Claude) — LLM for agentic chain-of-thought reasoning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2C2C"/>
                </a:solidFill>
              </a:defRPr>
            </a:pPr>
            <a:r>
              <a:t>• AWS Bedrock Titan Embeddings — Vector embeddings for RAG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2C2C"/>
                </a:solidFill>
              </a:defRPr>
            </a:pPr>
            <a:r>
              <a:t>• scikit-learn (Isolation Forest) — Unsupervised anomaly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663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2C2C"/>
                </a:solidFill>
              </a:defRPr>
            </a:pPr>
            <a:r>
              <a:t>• Streamlit — Interactive web dashboard for claims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486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2C2C"/>
                </a:solidFill>
              </a:defRPr>
            </a:pPr>
            <a:r>
              <a:t>• Custom Rules Engine + Knowledge Base — CPT/ICD validation + clinical guidelines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A154B"/>
                </a:solidFill>
              </a:defRPr>
            </a:pPr>
            <a:r>
              <a:t>POC Demo: Clinical Claims Decision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2C2C"/>
                </a:solidFill>
              </a:defRPr>
            </a:pPr>
            <a:r>
              <a:t>Demo Features:</a:t>
            </a:r>
            <a:br/>
            <a:br/>
            <a:r>
              <a:t>1. Select from pre-loaded clinical claims OR enter custom scenarios</a:t>
            </a:r>
            <a:br/>
            <a:br/>
            <a:r>
              <a:t>2. Watch the three-layer pipeline execute in real-time:</a:t>
            </a:r>
            <a:br/>
            <a:r>
              <a:t>     • Rules Engine flags known patterns instantly</a:t>
            </a:r>
            <a:br/>
            <a:r>
              <a:t>     • Isolation Forest scores statistical anomaly level</a:t>
            </a:r>
            <a:br/>
            <a:r>
              <a:t>     • Claude LLM performs 5-step chain-of-thought reasoning</a:t>
            </a:r>
            <a:br/>
            <a:br/>
            <a:r>
              <a:t>3. View integrated decision: APPROVE / FLAG_FOR_REVIEW / DENY</a:t>
            </a:r>
            <a:br/>
            <a:br/>
            <a:r>
              <a:t>4. Read auto-generated audit narrative for compliance documentation</a:t>
            </a:r>
            <a:br/>
            <a:br/>
            <a:r>
              <a:t>[LIVE DEMO SCREENSHARE]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A154B"/>
                </a:solidFill>
              </a:defRPr>
            </a:pPr>
            <a:r>
              <a:t>Sample Analysis: Suspicious Claim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2C2C"/>
                </a:solidFill>
              </a:defRPr>
            </a:pPr>
            <a:r>
              <a:t>Claim: 28yo male, ankle sprain + unrelated lumbar MRI billed ($4,500)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</a:defRPr>
            </a:pPr>
            <a:r>
              <a:t>Rules Engine: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2C2C"/>
                </a:solidFill>
              </a:defRPr>
            </a:pPr>
            <a:r>
              <a:t>3 flags triggered — procedure-diagnosis mismatch, high procedure count, age-procedure mismatch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7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</a:defRPr>
            </a:pPr>
            <a:r>
              <a:t>Anomaly Score: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9767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2C2C"/>
                </a:solidFill>
              </a:defRPr>
            </a:pPr>
            <a:r>
              <a:t>100% — Strong anomaly (billed amount and procedure count far above average)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154B"/>
                </a:solidFill>
              </a:defRPr>
            </a:pPr>
            <a:r>
              <a:t>AI Decision: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2C2C"/>
                </a:solidFill>
              </a:defRPr>
            </a:pPr>
            <a:r>
              <a:t>FLAG_FOR_REVIEW — Lumbar MRI unrelated to ankle sprain diagnosis, lacks medical necessity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A154B"/>
                </a:solidFill>
              </a:defRPr>
            </a:pPr>
            <a:r>
              <a:t>Opportunities &amp; Threats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8A745"/>
                </a:solidFill>
              </a:defRPr>
            </a:pPr>
            <a:r>
              <a:t>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2C2C"/>
                </a:solidFill>
              </a:defRPr>
            </a:pPr>
            <a:r>
              <a:t>• Pre-payment fraud prevention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7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2C2C"/>
                </a:solidFill>
              </a:defRPr>
            </a:pPr>
            <a:r>
              <a:t>• Scalable expert-level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2C2C"/>
                </a:solidFill>
              </a:defRPr>
            </a:pPr>
            <a:r>
              <a:t>• Novel pattern discovery (unsupervised)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2C2C"/>
                </a:solidFill>
              </a:defRPr>
            </a:pPr>
            <a:r>
              <a:t>• Auditor productivity boost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C3545"/>
                </a:solidFill>
              </a:defRPr>
            </a:pPr>
            <a:r>
              <a:t>Threats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2C2C"/>
                </a:solidFill>
              </a:defRPr>
            </a:pPr>
            <a:r>
              <a:t>• LLM hallucination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92607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2C2C"/>
                </a:solidFill>
              </a:defRPr>
            </a:pPr>
            <a:r>
              <a:t>• Evolving regulatory landscape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74903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2C2C"/>
                </a:solidFill>
              </a:defRPr>
            </a:pPr>
            <a:r>
              <a:t>• Adversarial billing adaptation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5720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2C2C"/>
                </a:solidFill>
              </a:defRPr>
            </a:pPr>
            <a:r>
              <a:t>• PHI/HIPAA compliance burden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A154B"/>
                </a:solidFill>
              </a:defRPr>
            </a:pPr>
            <a:r>
              <a:t>Strategic Recommendations for Cotiviti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C2C2C"/>
                </a:solidFill>
              </a:defRPr>
            </a:pPr>
            <a:r>
              <a:t>1. Invest in Hybrid Decision Pipelines</a:t>
            </a:r>
            <a:br/>
            <a:r>
              <a:t>   Rules + ML + GenAI for maximum coverage with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C2C2C"/>
                </a:solidFill>
              </a:defRPr>
            </a:pPr>
            <a:r>
              <a:t>2. Develop Agentic Audit Frameworks</a:t>
            </a:r>
            <a:br/>
            <a:r>
              <a:t>   End-to-end autonomous claim review with full audit trails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C2C2C"/>
                </a:solidFill>
              </a:defRPr>
            </a:pPr>
            <a:r>
              <a:t>3. Prioritize Explainability-First AI</a:t>
            </a:r>
            <a:br/>
            <a:r>
              <a:t>   Transparent reasoning chains for regulatory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19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C2C2C"/>
                </a:solidFill>
              </a:defRPr>
            </a:pPr>
            <a:r>
              <a:t>4. Establish Continuous Learning Pipelines</a:t>
            </a:r>
            <a:br/>
            <a:r>
              <a:t>   Human feedback loops to retrain models on emerging patterns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A154B"/>
                </a:solidFill>
              </a:defRPr>
            </a:pPr>
            <a:r>
              <a:t>AI Governance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2C2C"/>
                </a:solidFill>
              </a:defRPr>
            </a:pPr>
            <a:r>
              <a:t>• Auditability — Complete reasoning trail for every automated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2C2C"/>
                </a:solidFill>
              </a:defRPr>
            </a:pPr>
            <a:r>
              <a:t>• Human-in-the-Loop — AI augments experts; denials require human confirmation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2C2C"/>
                </a:solidFill>
              </a:defRPr>
            </a:pPr>
            <a:r>
              <a:t>• Bias Monitoring — Continuous checks for disparate impact across demographics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480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2C2C"/>
                </a:solidFill>
              </a:defRPr>
            </a:pPr>
            <a:r>
              <a:t>• Confidence Routing — Low-confidence claims auto-escalate to human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486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2C2C"/>
                </a:solidFill>
              </a:defRPr>
            </a:pPr>
            <a:r>
              <a:t>• Data Privacy — No PII stored beyond session; HIPAA-compliant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1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Nishit Pankajkumar Patel</a:t>
            </a:r>
            <a:br/>
            <a:r>
              <a:t>nishitpatel24113@gmail.com</a:t>
            </a:r>
            <a:br/>
            <a:r>
              <a:t>github.com/Nishit24113</a:t>
            </a:r>
            <a:br/>
            <a:r>
              <a:t>Arizona State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